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1A1A"/>
                </a:solidFill>
              </a:rPr>
              <a:t>Aisle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4114800" cy="54864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374151"/>
                </a:solidFill>
              </a:rPr>
              <a:t>Closed-Loop Commerce, From Intent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</a:rPr>
              <a:t>Gemini-assisted discovery prepares a grounded cart; deterministic
controls persist a customer-confirmed order; merchant signals
turn into evidence-grounded operational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120640"/>
            <a:ext cx="2011680" cy="457200"/>
          </a:xfrm>
          <a:prstGeom prst="rect">
            <a:avLst/>
          </a:prstGeom>
          <a:solidFill>
            <a:srgbClr val="E8F8EE"/>
          </a:solidFill>
          <a:ln w="12700">
            <a:solidFill>
              <a:srgbClr val="2DB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13892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C4E"/>
                </a:solidFill>
              </a:rPr>
              <a:t>EA Mavericks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914400"/>
            <a:ext cx="320040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C4E"/>
                </a:solidFill>
              </a:rPr>
              <a:t>🔍  Find Merchants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691640"/>
            <a:ext cx="2560320" cy="1828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331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C4E"/>
                </a:solidFill>
              </a:rPr>
              <a:t>⚖️  Compare &amp; Rank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834640"/>
            <a:ext cx="2560320" cy="1828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3474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C4E"/>
                </a:solidFill>
              </a:rPr>
              <a:t>🎙️  Talk to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3977640"/>
            <a:ext cx="2560320" cy="1828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617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C4E"/>
                </a:solidFill>
              </a:rPr>
              <a:t>🔒  Human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Aisle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560320" cy="411480"/>
          </a:xfrm>
          <a:prstGeom prst="rect">
            <a:avLst/>
          </a:prstGeom>
          <a:solidFill>
            <a:srgbClr val="F3F4F6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2560320" cy="3474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081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Fragmented and repetitive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4114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manual browsing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45720" cy="2560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4114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merchant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17520"/>
            <a:ext cx="45720" cy="2560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91840"/>
            <a:ext cx="4114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product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45720" cy="2560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77640"/>
            <a:ext cx="4114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776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23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cart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22860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DBF6E"/>
                </a:solidFill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2560320" cy="411480"/>
          </a:xfrm>
          <a:prstGeom prst="rect">
            <a:avLst/>
          </a:prstGeom>
          <a:solidFill>
            <a:srgbClr val="E8F8EE"/>
          </a:solidFill>
          <a:ln w="19050">
            <a:solidFill>
              <a:srgbClr val="2DB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914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C4E"/>
                </a:solidFill>
              </a:rPr>
              <a:t>After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1389888"/>
            <a:ext cx="2560320" cy="34747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14081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8C4E"/>
                </a:solidFill>
              </a:rPr>
              <a:t>one request and one confirmation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1920240"/>
            <a:ext cx="411480" cy="411480"/>
          </a:xfrm>
          <a:prstGeom prst="rect">
            <a:avLst/>
          </a:prstGeom>
          <a:solidFill>
            <a:srgbClr val="E8F8EE"/>
          </a:solidFill>
          <a:ln w="12700">
            <a:solidFill>
              <a:srgbClr val="2DB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2191" y="19202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BF6E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19385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grounded catalog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2331720"/>
            <a:ext cx="45720" cy="48463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94760" y="2834640"/>
            <a:ext cx="411480" cy="411480"/>
          </a:xfrm>
          <a:prstGeom prst="rect">
            <a:avLst/>
          </a:prstGeom>
          <a:solidFill>
            <a:srgbClr val="E8F8EE"/>
          </a:solidFill>
          <a:ln w="12700">
            <a:solidFill>
              <a:srgbClr val="2DB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1" y="28346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BF6E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8529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Gemini-assisted selection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7639" y="3246120"/>
            <a:ext cx="45720" cy="48463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94760" y="3749040"/>
            <a:ext cx="411480" cy="411480"/>
          </a:xfrm>
          <a:prstGeom prst="rect">
            <a:avLst/>
          </a:prstGeom>
          <a:solidFill>
            <a:srgbClr val="E8F8EE"/>
          </a:solidFill>
          <a:ln w="12700">
            <a:solidFill>
              <a:srgbClr val="2DB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22191" y="3749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BF6E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7673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explicit confirmation +
merchant fulfillment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822960"/>
            <a:ext cx="53492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914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Aisle AI: Closed-Loop
Commerce Copilot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1965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A governed commerce copilot that connects grounded product discovery,
explicit customer confirmation, persistent orders, merchant fulfillment,
and evidence-grounded operational insight.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063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Manual friction destroys conversion rates and user patience. E-commerce
remains a labour-intensive chore — and that is the problem Aisle AI
was built to solve.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4069080"/>
            <a:ext cx="5029200" cy="1051560"/>
          </a:xfrm>
          <a:prstGeom prst="rect">
            <a:avLst/>
          </a:prstGeom>
          <a:solidFill>
            <a:srgbClr val="E8F8EE"/>
          </a:solidFill>
          <a:ln w="12700">
            <a:solidFill>
              <a:srgbClr val="2DB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C4E"/>
                </a:solidFill>
              </a:rPr>
              <a:t>✓  Aisle AI connects customer intent with merchant action.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5537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From fragmented browsing to one grounded request and explicit confirmation.
Customer intent now connects to merchant action.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943600"/>
            <a:ext cx="3657600" cy="1828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→  Discover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355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Search a bounded synthetic
demo catalog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5943600"/>
            <a:ext cx="3657600" cy="1828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→  Compose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6355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Gemini helps satisfy
intent and constraints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5943600"/>
            <a:ext cx="3657600" cy="1828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→  Close the Loop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6355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Confirmed orders reach
merchant operations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828800" cy="32004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8346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</a:rPr>
              <a:t>Talk to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8C4E"/>
                </a:solidFill>
              </a:rPr>
              <a:t>Hands-Free Ordering — Just Speak, We Handle the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No browsing. No searching. No checkout forms.
Simply tell the AI what you want — it finds the best merchant, compares options,
checks your budget rules, and prepares an order for explicit confirmation.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29000"/>
            <a:ext cx="594360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93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Live Demo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🧑  You: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I have a serious coffee craving. Find me the best place on my way home.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611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🤖  AI: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2611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8C4E"/>
                </a:solidFill>
              </a:rPr>
              <a:t>Found 3 synthetic demo merchants. Aisle Coffee Lab has your latte. Choose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902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🧑  You: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90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Aisle Coffee Lab.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19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🤖  AI: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919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8C4E"/>
                </a:solidFill>
              </a:rPr>
              <a:t>Adding a Medium Latte — $5.75. Use a simulated token or COD?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486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🧑  You: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248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Yes.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🤖  AI: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BF6E"/>
                </a:solidFill>
              </a:rPr>
              <a:t>✓ Order confirmed! The merchant can now begin preparation.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822960"/>
            <a:ext cx="5212080" cy="52120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914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What happened in the background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600200"/>
            <a:ext cx="411480" cy="41148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600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Catalog 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9842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Searched bounded synthetic
merchant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606040"/>
            <a:ext cx="411480" cy="41148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606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Gemini 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99008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Interpreted intent and explained
the grounded recommendation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611880"/>
            <a:ext cx="411480" cy="41148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611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Commerce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9959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Recomputed prices and required
explicit confirmation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17720"/>
            <a:ext cx="411480" cy="41148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617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617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Order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0017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Persisted the order with honest
payment 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</a:rPr>
              <a:t>Governed Commerce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Gemini reasons over bounded evidence; deterministic services control consequential 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743200" cy="43891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8C4E"/>
                </a:solidFill>
              </a:rPr>
              <a:t>Search &amp; Grounding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2377440" cy="36576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Retrieves synthetic catalog records.
Product, price and availability evidence
stays bounded and inspectable.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BF6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743200" cy="4389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</a:rPr>
              <a:t>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Gemini Planner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926080"/>
            <a:ext cx="237744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0632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Interprets natural-language intent
and explains choices. PII is redacted
and failures use a labelled fallback.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BF6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2743200" cy="43891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2610B"/>
                </a:solidFill>
              </a:rPr>
              <a:t>Commerce Controls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26080"/>
            <a:ext cx="2377440" cy="36576"/>
          </a:xfrm>
          <a:prstGeom prst="rect">
            <a:avLst/>
          </a:prstGeom>
          <a:solidFill>
            <a:srgbClr val="C261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Recomputes prices and totals, checks
roles and ownership, and requires an
explicit customer confirmation.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BF6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554480"/>
            <a:ext cx="2743200" cy="438912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6197A"/>
                </a:solidFill>
              </a:rPr>
              <a:t>Order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2926080"/>
            <a:ext cx="2377440" cy="36576"/>
          </a:xfrm>
          <a:prstGeom prst="rect">
            <a:avLst/>
          </a:prstGeom>
          <a:solidFill>
            <a:srgbClr val="861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0632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Persists customer and merchant views.
Payment is simulated-token or COD;
fulfillment follows valid transitions.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8346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</a:rPr>
              <a:t>Responsible AI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8C4E"/>
                </a:solidFill>
              </a:rPr>
              <a:t>Grounded assistance with deterministic controls and human approval.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731520" cy="73152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1546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4151"/>
                </a:solidFill>
              </a:rPr>
              <a:t>Customer
Approves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You confirm
the purchase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BF6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286000"/>
            <a:ext cx="731520" cy="73152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546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4151"/>
                </a:solidFill>
              </a:rPr>
              <a:t>PII
Redacted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7033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Sensitive text is
removed from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BF6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286000"/>
            <a:ext cx="731520" cy="73152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1546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4151"/>
                </a:solidFill>
              </a:rPr>
              <a:t>Evidence
Grounded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7033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Catalog and metrics
bound the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BF6E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286000"/>
            <a:ext cx="731520" cy="73152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1546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4151"/>
                </a:solidFill>
              </a:rPr>
              <a:t>Order
Persisted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7033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Simulated token
or COD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377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BF6E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286000"/>
            <a:ext cx="731520" cy="73152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1546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4151"/>
                </a:solidFill>
              </a:rPr>
              <a:t>Merchant
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7033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Status changes are
explicitly approved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89120"/>
            <a:ext cx="11430000" cy="19202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C4E"/>
                </a:solidFill>
              </a:rPr>
              <a:t>Why This Matters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983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✓  PII redaction before model calls and on model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983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✓  Prompt-injection boundary for reviews and customer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40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✓  Deterministic price, policy, authentication, and order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440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✓  Transparent fallbacks and prototype limitations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</a:rPr>
              <a:t>Demand Intelligence  &amp;  Merchant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8C4E"/>
                </a:solidFill>
              </a:rPr>
              <a:t>📈  Demand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Historical order patterns become directional forecasts.
Gemini explains the evidence and suggests preparation,
while the merchant keeps decision authority.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146304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9077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historical weekday and item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146304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Explainable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sample size and source shown to merchant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146304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Actionable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096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stock-preparation guidance, not guarantees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17720"/>
            <a:ext cx="146304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617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Resilient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690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deterministic fallback if Gemini is unavailable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566928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74151"/>
                </a:solidFill>
              </a:rPr>
              <a:t>🖥️  Merchant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7373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Live application order visibility for the signed-in merchant,
with deterministic status transitions.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560320"/>
            <a:ext cx="411480" cy="411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560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New Order Arrives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90779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Persistent customer-confirmed order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273552"/>
            <a:ext cx="411480" cy="411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2735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2735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Start Preparing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6210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One click to accept and begin preparation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986784"/>
            <a:ext cx="411480" cy="411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86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98678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Mark 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342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Status is persisted and visible to the customer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700016"/>
            <a:ext cx="411480" cy="411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7000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70001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Delivered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0474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Order closes with its honest payment status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</a:rPr>
              <a:t>The Future of Commerce
Is Closed-Loop.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4572000" cy="54864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</a:rPr>
              <a:t>Aisle AI delivers a closed-loop shopping and merchant experience —
from spoken intent to confirmed order and operational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Conversational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Talk or type; Gemini prepares a grounded cart for confirmation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834640"/>
            <a:ext cx="45720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Intelligent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218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Gemini reasons over bounded synthetic catalog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Deterministic Commerce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24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Prices, roles, confirmation, payment status and order transitions are controlled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45720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Responsible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224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PII redaction, grounding, role isolation, and human approval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Demand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230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Directional forecasts explain the historical evidence 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</a:rPr>
              <a:t>🖥️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4E"/>
                </a:solidFill>
              </a:rPr>
              <a:t>Merchant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230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Persistent order workflow and evidence-grounded customer insights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From customer intent to merchant action — one transparent, Gemini-powered loop.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